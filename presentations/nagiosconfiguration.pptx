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8"/>
  </p:notesMasterIdLst>
  <p:sldIdLst>
    <p:sldId id="289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306" r:id="rId10"/>
    <p:sldId id="298" r:id="rId11"/>
    <p:sldId id="299" r:id="rId12"/>
    <p:sldId id="300" r:id="rId13"/>
    <p:sldId id="301" r:id="rId14"/>
    <p:sldId id="302" r:id="rId15"/>
    <p:sldId id="309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67"/>
  </p:normalViewPr>
  <p:slideViewPr>
    <p:cSldViewPr snapToGrid="0">
      <p:cViewPr varScale="1">
        <p:scale>
          <a:sx n="110" d="100"/>
          <a:sy n="110" d="100"/>
        </p:scale>
        <p:origin x="208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EB39B-9299-484D-93B3-1DEE05B1E1AA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EE788-7332-AA44-8EBA-37B68B331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6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Good Morning. I’m Ayush Anand, Registration Number 23FE10CSE00339, and today I'll present my DevOps semester project — the Nagios Configuration Generator. This is a Python-based automation tool that solves a real-world infrastructure monitoring challenge using DevOps best practices.</a:t>
            </a:r>
          </a:p>
          <a:p>
            <a:endParaRPr lang="en-US" sz="1200" dirty="0"/>
          </a:p>
          <a:p>
            <a:r>
              <a:rPr lang="en-US" sz="1200" dirty="0"/>
              <a:t>[~20 seconds]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Here's what I'll cover. We'll start with the problem, walk through the architecture and features, do a live demo of both the CLI and web interface, then go into the DevOps pipeline, testing, and results.</a:t>
            </a:r>
          </a:p>
          <a:p>
            <a:endParaRPr lang="en-US" sz="1200" dirty="0"/>
          </a:p>
          <a:p>
            <a:r>
              <a:rPr lang="en-US" sz="1200" dirty="0"/>
              <a:t>[~15 seconds]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Nagios is a widely-used open-source monitoring tool, but configuring it is incredibly tedious. Every host, service, and contact needs its own 'define' block in a .cfg file — with exact syntax. If you're managing 50 or 100 servers, that's hundreds of lines of repetitive boilerplate.</a:t>
            </a:r>
          </a:p>
          <a:p>
            <a:endParaRPr lang="en-US" sz="1200" dirty="0"/>
          </a:p>
          <a:p>
            <a:r>
              <a:rPr lang="en-US" sz="1200" dirty="0"/>
              <a:t>The bigger issue is that Nagios has no built-in validation. A misplaced bracket or typo won't show an error until you try to reload the Nagios daemon — and by then, your monitoring might silently fail.</a:t>
            </a:r>
          </a:p>
          <a:p>
            <a:endParaRPr lang="en-US" sz="1200" dirty="0"/>
          </a:p>
          <a:p>
            <a:r>
              <a:rPr lang="en-US" sz="1200" dirty="0"/>
              <a:t>So the question becomes: how do we automate this?</a:t>
            </a:r>
          </a:p>
          <a:p>
            <a:endParaRPr lang="en-US" sz="1200" dirty="0"/>
          </a:p>
          <a:p>
            <a:r>
              <a:rPr lang="en-US" sz="1200" dirty="0"/>
              <a:t>[~45 seconds]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answer is the Nagios Configuration Generator. You define your infrastructure in a simple YAML file — hosts, services, contacts — and the tool validates your input, then uses Jinja2 templates to generate production-ready .cfg files.</a:t>
            </a:r>
          </a:p>
          <a:p>
            <a:endParaRPr lang="en-US" sz="1200" dirty="0"/>
          </a:p>
          <a:p>
            <a:r>
              <a:rPr lang="en-US" sz="1200" dirty="0"/>
              <a:t>It offers two interfaces: a CLI for scripting and CI/CD, and a web UI built with Flask for interactive use. Both share the same engine.</a:t>
            </a:r>
          </a:p>
          <a:p>
            <a:endParaRPr lang="en-US" sz="1200" dirty="0"/>
          </a:p>
          <a:p>
            <a:r>
              <a:rPr lang="en-US" sz="1200" dirty="0"/>
              <a:t>What used to take hours of manual work now takes under 100 milliseconds.</a:t>
            </a:r>
          </a:p>
          <a:p>
            <a:endParaRPr lang="en-US" sz="1200" dirty="0"/>
          </a:p>
          <a:p>
            <a:r>
              <a:rPr lang="en-US" sz="1200" dirty="0"/>
              <a:t>[~40 seconds]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Quick stack overview — Python 3.11 is the core language. Flask powers the web UI, Click gives us the CLI, Pydantic handles validation.</a:t>
            </a:r>
          </a:p>
          <a:p>
            <a:endParaRPr lang="en-US" sz="1200" dirty="0"/>
          </a:p>
          <a:p>
            <a:r>
              <a:rPr lang="en-US" sz="1200" dirty="0"/>
              <a:t>Jinja2 renders templates. On the DevOps side — Docker with multi-stage builds, Kubernetes for production, Jenkins for CI/CD, Trivy for security scanning, and pytest for testing.</a:t>
            </a:r>
          </a:p>
          <a:p>
            <a:endParaRPr lang="en-US" sz="1200" dirty="0"/>
          </a:p>
          <a:p>
            <a:r>
              <a:rPr lang="en-US" sz="1200" dirty="0"/>
              <a:t>[~30 seconds]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Here's the data flow. Input comes from either the CLI as a YAML file, or through the web form. It passes through a validation layer — Pydantic models enforce constraints like valid IP addresses, RFC-compliant hostnames, and proper email formats.</a:t>
            </a:r>
          </a:p>
          <a:p>
            <a:endParaRPr lang="en-US" sz="1200" dirty="0"/>
          </a:p>
          <a:p>
            <a:r>
              <a:rPr lang="en-US" sz="1200" dirty="0"/>
              <a:t>Once validated, the data goes into the NagiosGenerator — our Jinja2 template engine — which renders five output types: hosts, services, contacts, hostgroups, and commands.</a:t>
            </a:r>
          </a:p>
          <a:p>
            <a:endParaRPr lang="en-US" sz="1200" dirty="0"/>
          </a:p>
          <a:p>
            <a:r>
              <a:rPr lang="en-US" sz="1200" dirty="0"/>
              <a:t>Output can be written to disk, previewed in the browser, or downloaded as a ZIP.</a:t>
            </a:r>
          </a:p>
          <a:p>
            <a:endParaRPr lang="en-US" sz="1200" dirty="0"/>
          </a:p>
          <a:p>
            <a:r>
              <a:rPr lang="en-US" sz="1200" dirty="0"/>
              <a:t>[~40 seconds]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Here's what the YAML input looks like. You define hosts with their hostname, alias, IP, and monitoring parameters. The tool validates every field:</a:t>
            </a:r>
          </a:p>
          <a:p>
            <a:r>
              <a:rPr lang="en-US" sz="1200" dirty="0"/>
              <a:t>- IP addresses checked against proper format</a:t>
            </a:r>
          </a:p>
          <a:p>
            <a:r>
              <a:rPr lang="en-US" sz="1200" dirty="0"/>
              <a:t>- Hostnames RFC-compliant — alphanumeric, max 63 characters</a:t>
            </a:r>
          </a:p>
          <a:p>
            <a:r>
              <a:rPr lang="en-US" sz="1200" dirty="0"/>
              <a:t>- Email format validation</a:t>
            </a:r>
          </a:p>
          <a:p>
            <a:r>
              <a:rPr lang="en-US" sz="1200" dirty="0"/>
              <a:t>- Numeric thresholds range-checked (1 to 100)</a:t>
            </a:r>
          </a:p>
          <a:p>
            <a:endParaRPr lang="en-US" sz="1200" dirty="0"/>
          </a:p>
          <a:p>
            <a:r>
              <a:rPr lang="en-US" sz="1200" dirty="0"/>
              <a:t>If anything is wrong, you get a clear error before any files are generated. Fail fast.</a:t>
            </a:r>
          </a:p>
          <a:p>
            <a:endParaRPr lang="en-US" sz="1200" dirty="0"/>
          </a:p>
          <a:p>
            <a:r>
              <a:rPr lang="en-US" sz="1200" dirty="0"/>
              <a:t>[~35 seconds]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Generation happens through Jinja2 templates. The template loops over hosts and fills in fields. The output mirrors Nagios syntax exactly, so the output is immediately deployable to a Nagios server.</a:t>
            </a:r>
          </a:p>
          <a:p>
            <a:endParaRPr lang="en-US" sz="1200" dirty="0"/>
          </a:p>
          <a:p>
            <a:r>
              <a:rPr lang="en-US" sz="1200" dirty="0"/>
              <a:t>We have five template types: hosts, services, contacts, hostgroups, and commands. We only generate files that have data — no empty files.</a:t>
            </a:r>
          </a:p>
          <a:p>
            <a:endParaRPr lang="en-US" sz="1200" dirty="0"/>
          </a:p>
          <a:p>
            <a:r>
              <a:rPr lang="en-US" sz="1200" dirty="0"/>
              <a:t>[~25 seconds]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Two interfaces, same engine. The CLI has three commands: 'validate' for dry-run checks, 'generate' for file output, and 'web' to launch the Flask server.</a:t>
            </a:r>
          </a:p>
          <a:p>
            <a:endParaRPr lang="en-US" sz="1200" dirty="0"/>
          </a:p>
          <a:p>
            <a:r>
              <a:rPr lang="en-US" sz="1200" dirty="0"/>
              <a:t>The web UI is for interactive use — dynamic forms for adding monitoring objects, in-browser preview, and ZIP download.</a:t>
            </a:r>
          </a:p>
          <a:p>
            <a:endParaRPr lang="en-US" sz="1200" dirty="0"/>
          </a:p>
          <a:p>
            <a:r>
              <a:rPr lang="en-US" sz="1200" dirty="0"/>
              <a:t>Let me show you both in action. [Transition to live demo]</a:t>
            </a:r>
          </a:p>
          <a:p>
            <a:endParaRPr lang="en-US" sz="1200" dirty="0"/>
          </a:p>
          <a:p>
            <a:r>
              <a:rPr lang="en-US" sz="1200" dirty="0"/>
              <a:t>[~15 seconds — then live demo]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application is containerized with a multi-stage Docker build. First stage installs dependencies, second copies only what's needed.</a:t>
            </a:r>
          </a:p>
          <a:p>
            <a:endParaRPr lang="en-US" sz="1200" dirty="0"/>
          </a:p>
          <a:p>
            <a:r>
              <a:rPr lang="en-US" sz="1200" dirty="0"/>
              <a:t>Final image goes from ~900 MB down to ~150 MB — that's an 83% reduction. Health check pings the endpoint every 30 seconds. Production server is Gunicorn with 2 workers.</a:t>
            </a:r>
          </a:p>
          <a:p>
            <a:endParaRPr lang="en-US" sz="1200" dirty="0"/>
          </a:p>
          <a:p>
            <a:r>
              <a:rPr lang="en-US" sz="1200" dirty="0"/>
              <a:t>Docker Compose gives us one-command deployment. Default profile runs the generator. The 'full' profile also spins up a Nagios server that reads generated configs through a shared volume — from docker-compose up to a fully monitored infrastructure in seconds.</a:t>
            </a:r>
          </a:p>
          <a:p>
            <a:endParaRPr lang="en-US" sz="1200" dirty="0"/>
          </a:p>
          <a:p>
            <a:r>
              <a:rPr lang="en-US" sz="1200" dirty="0"/>
              <a:t>[~55 seconds — covers Docker + Compose + Kubernetes from script slides 12-14]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Jenkins pipeline automates quality assurance. flake8 checks code quality, Docker builds the image, pytest runs tests, and a smoke test verifies the CLI.</a:t>
            </a:r>
          </a:p>
          <a:p>
            <a:endParaRPr lang="en-US" sz="1200" dirty="0"/>
          </a:p>
          <a:p>
            <a:r>
              <a:rPr lang="en-US" sz="1200" dirty="0"/>
              <a:t>Trivy scans for vulnerabilities. Staging deploys automatically; production requires manual approval. Every commit goes through the same pipeline — no shortcuts.</a:t>
            </a:r>
          </a:p>
          <a:p>
            <a:endParaRPr lang="en-US" sz="1200" dirty="0"/>
          </a:p>
          <a:p>
            <a:r>
              <a:rPr lang="en-US" sz="1200" dirty="0"/>
              <a:t>[~35 seconds]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Testing is first-class. 12+ unit tests cover generator output, file creation, ZIP validity, and Nagios syntax. The integration test runs the full pipeline — YAML to files — and verifies everything.</a:t>
            </a:r>
          </a:p>
          <a:p>
            <a:endParaRPr lang="en-US" sz="1200" dirty="0"/>
          </a:p>
          <a:p>
            <a:r>
              <a:rPr lang="en-US" sz="1200" dirty="0"/>
              <a:t>In CI, smoke tests ensure CLI commands execute without errors. Coverage is over 85%, above our 80% target.</a:t>
            </a:r>
          </a:p>
          <a:p>
            <a:endParaRPr lang="en-US" sz="1200" dirty="0"/>
          </a:p>
          <a:p>
            <a:r>
              <a:rPr lang="en-US" sz="1200" dirty="0"/>
              <a:t>[~25 seconds]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Numbers — config generation is ~100 ms, Docker image is ~150 MB, build time is 45 seconds, test coverage over 85%.</a:t>
            </a:r>
          </a:p>
          <a:p>
            <a:endParaRPr lang="en-US" sz="1200" dirty="0"/>
          </a:p>
          <a:p>
            <a:r>
              <a:rPr lang="en-US" sz="1200" dirty="0"/>
              <a:t>This demonstrates Infrastructure as Code, CI/CD with quality gates, optimized containerization, and automation over manual processes.</a:t>
            </a:r>
          </a:p>
          <a:p>
            <a:endParaRPr lang="en-US" sz="1200" dirty="0"/>
          </a:p>
          <a:p>
            <a:r>
              <a:rPr lang="en-US" sz="1200" dirty="0"/>
              <a:t>[~30 seconds]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src/main/ has our five core modules: the CLI, generator, data models, validators, and web interface. templates/nagios/ has the Jinja2 templates. infrastructure/ holds Docker and Kubernetes configs. pipelines/ has the Jenkinsfile. And tests/ has our test suites.</a:t>
            </a:r>
          </a:p>
          <a:p>
            <a:endParaRPr lang="en-US" sz="1200" dirty="0"/>
          </a:p>
          <a:p>
            <a:r>
              <a:rPr lang="en-US" sz="1200" dirty="0"/>
              <a:t>[~15 seconds]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To wrap up — automation eliminates manual errors. Validation-first design catches mistakes early. Dual interfaces serve both automation and interactive needs. The DevOps pipeline enforces quality at every stage. And containerization makes deployment consistent everywhere.</a:t>
            </a:r>
          </a:p>
          <a:p>
            <a:endParaRPr lang="en-US" sz="1200" dirty="0"/>
          </a:p>
          <a:p>
            <a:r>
              <a:rPr lang="en-US" sz="1200" dirty="0"/>
              <a:t>[~25 seconds]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That concludes my presentation. Thank you for your time. I'm happy to take any questions.</a:t>
            </a:r>
          </a:p>
          <a:p>
            <a:endParaRPr lang="en-US" sz="1200" dirty="0"/>
          </a:p>
          <a:p>
            <a:r>
              <a:rPr lang="en-US" sz="1200" dirty="0"/>
              <a:t>--- ANTICIPATED Q&amp;A ---</a:t>
            </a:r>
          </a:p>
          <a:p>
            <a:endParaRPr lang="en-US" sz="1200" dirty="0"/>
          </a:p>
          <a:p>
            <a:r>
              <a:rPr lang="en-US" sz="1200" dirty="0"/>
              <a:t>Q: Why Nagios and not Prometheus/Grafana?</a:t>
            </a:r>
          </a:p>
          <a:p>
            <a:r>
              <a:rPr lang="en-US" sz="1200" dirty="0"/>
              <a:t>A: Nagios is still widely used in enterprise environments and has a unique config challenge — flat .cfg files with no built-in templating. The automation value is clearest here.</a:t>
            </a:r>
          </a:p>
          <a:p>
            <a:endParaRPr lang="en-US" sz="1200" dirty="0"/>
          </a:p>
          <a:p>
            <a:r>
              <a:rPr lang="en-US" sz="1200" dirty="0"/>
              <a:t>Q: Why Pydantic instead of simple validation functions?</a:t>
            </a:r>
          </a:p>
          <a:p>
            <a:r>
              <a:rPr lang="en-US" sz="1200" dirty="0"/>
              <a:t>A: Pydantic gives declarative, type-safe models with automatic error messages. It's the modern Python standard for data validation.</a:t>
            </a:r>
          </a:p>
          <a:p>
            <a:endParaRPr lang="en-US" sz="1200" dirty="0"/>
          </a:p>
          <a:p>
            <a:r>
              <a:rPr lang="en-US" sz="1200" dirty="0"/>
              <a:t>Q: How does this scale to 1000+ hosts?</a:t>
            </a:r>
          </a:p>
          <a:p>
            <a:r>
              <a:rPr lang="en-US" sz="1200" dirty="0"/>
              <a:t>A: It's stateless and template-driven. Jinja2 loops are efficient — 1000 hosts still generates in well under a second.</a:t>
            </a:r>
          </a:p>
          <a:p>
            <a:endParaRPr lang="en-US" sz="1200" dirty="0"/>
          </a:p>
          <a:p>
            <a:r>
              <a:rPr lang="en-US" sz="1200" dirty="0"/>
              <a:t>Q: Why both CLI and web interface?</a:t>
            </a:r>
          </a:p>
          <a:p>
            <a:r>
              <a:rPr lang="en-US" sz="1200" dirty="0"/>
              <a:t>A: Different use cases. CLI integrates into CI/CD pipelines and scripts. The web UI is for teams who want to define monitoring interactively.</a:t>
            </a:r>
          </a:p>
          <a:p>
            <a:endParaRPr lang="en-US" sz="1200" dirty="0"/>
          </a:p>
          <a:p>
            <a:r>
              <a:rPr lang="en-US" sz="1200" dirty="0"/>
              <a:t>Q: What happens with invalid input?</a:t>
            </a:r>
          </a:p>
          <a:p>
            <a:r>
              <a:rPr lang="en-US" sz="1200" dirty="0"/>
              <a:t>A: Pydantic raises a ValidationError with a clear message pointing to the exact field. CLI exits with non-zero code. Web shows the error on the form.</a:t>
            </a:r>
          </a:p>
          <a:p>
            <a:endParaRPr lang="en-US" sz="1200" dirty="0"/>
          </a:p>
          <a:p>
            <a:r>
              <a:rPr lang="en-US" sz="1200" dirty="0"/>
              <a:t>Q: Why multi-stage Docker build?</a:t>
            </a:r>
          </a:p>
          <a:p>
            <a:r>
              <a:rPr lang="en-US" sz="1200" dirty="0"/>
              <a:t>A: Single-stage includes full Python toolchain — ~900 MB. Multi-stage copies only what's needed — ~150 MB. Smaller images mean faster pulls, less storage, smaller attack surface.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D1E1-67FA-BA7E-7BB7-D255AE4FF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36B76-C384-C701-3D3A-18B430D5E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872DC-A87E-AC2B-1270-C78AE0E76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CCF44-A746-5FA9-9AEA-F803D98F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5C1CA-1999-8FD5-7C11-AA6A6B6E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0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6664-923B-1C8C-489F-452C50A0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63211-54EC-F33D-52AB-6F0BF4800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7B44B-1B17-136D-F507-81B4D8DBC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B1EA8-05DF-2F64-6847-38EF3D5E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26824-9CF2-5CB0-B55E-49AC6049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2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B96C-F41E-0A63-CB6E-D6EB54E0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97D7A-9A76-F082-FF86-B870B154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9F29-3272-8CBD-0315-0B4D7BB6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5E39A-26B6-549A-A9CC-10AE51878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17B22-7B9E-D2C7-4365-64C4A949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04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53442-C48E-DC54-E7DB-9E84802D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1EB0-1D09-C8A2-25AB-2A3576E26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C3775-DC01-4229-68E7-5DAE24748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69E9D-3B32-3890-6062-9B7AEE88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F0C40-F088-C2E7-A5F8-4E6E339C3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14CCB-B759-D70D-7A72-76671CCD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13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7C78-9C1D-3B46-5F34-39110F056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32318-8E69-D3BC-FB91-B8D3BF304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F3B34-6B61-9F22-9326-6E887FA9F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F4625-421B-8A84-2116-C92EE1276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5D0B8-1C01-07E6-5C00-02A23B4C4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923B6-76B1-2080-5EB7-F40EBFF0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6ACC7F-30DF-142C-65EA-7D0F6B0CD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BE1BF0-23FC-3C55-EEEE-242E12093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2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8D49-E281-1C91-E7A5-453B61A9D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4338-56F8-3913-00AB-577FF37C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29494-543A-6199-19B4-B6D57BF2E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04CF6-B687-6875-2460-52A60A12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0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D11E25-05D6-9123-71FE-0E92ECDE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17CA6-A6F4-F7D7-C667-CBC1012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BAAB-A511-B339-A036-C2A91709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6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6A80-30AA-10A5-6323-7258FF512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9FE80-9D3E-ED49-1207-2DA9CAFE7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0CE89-F18F-5AE1-CD08-EE6CFBA89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973BE-16A3-C836-0D9A-5EF51B47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74E04-9926-A49A-657E-C109ED33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290CF-B13C-B652-A703-1146DCD7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7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8A05-88DC-1FFE-5AFD-E06D5075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9412FB-D43F-E323-5994-6A45EEFE45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F1CEB-C645-DDFB-2EA3-0E5BC326B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FD0A9-CA8D-D942-6422-3E2D6FE8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2A46F-EB9F-9F7D-728B-6CB9AA58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64B57-57E9-AC96-BD7D-73DBD5F8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4EC6E-B43F-3F04-AD8A-F36B717E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FEA71-9827-58DB-29F8-A1AE84ED9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86F0D-0CCC-8AE3-B52B-91064DF2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B140C-4610-8003-D99C-68A7346E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DDEF4-9186-7B14-CE42-EF8B69BB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5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8E3049-47C3-9765-7D25-525570292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3A8C9-AB03-AC2C-4D1F-CEB0697C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87A77-8E61-89EC-A74C-1D9C015B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E6451-2D3A-05C1-43D0-CDDD1674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0DE15-A636-EBD0-6430-DB0205A2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3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36ED7-E501-DCCB-6FF8-1896DC00D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20645-38B5-ADEB-5981-882A1DF22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DB799-FC8C-696A-C7A9-55D960C09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56766-2A12-3B46-A8F3-CA8F04B40D7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B8EF7-8CB9-8C21-177D-6C01E3815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27FD0-A918-5648-C04C-CA1ACB501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BFCB7A-714E-F742-BBF9-F7955BF1084D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Bar"/>
          <p:cNvSpPr>
            <a:spLocks noGrp="1"/>
          </p:cNvSpPr>
          <p:nvPr/>
        </p:nvSpPr>
        <p:spPr>
          <a:xfrm>
            <a:off x="0" y="6400000"/>
            <a:ext cx="9144000" cy="3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SideAccent"/>
          <p:cNvSpPr>
            <a:spLocks noGrp="1"/>
          </p:cNvSpPr>
          <p:nvPr/>
        </p:nvSpPr>
        <p:spPr>
          <a:xfrm>
            <a:off x="0" y="0"/>
            <a:ext cx="14400" cy="6400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25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D4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AEAE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954E-C630-4670-216B-52700D098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8000"/>
            <a:ext cx="9144000" cy="2159000"/>
          </a:xfrm>
        </p:spPr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00D4FF"/>
                </a:solidFill>
                <a:latin typeface="Segoe UI"/>
              </a:rPr>
              <a:t>Nagios Configuration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53DA7A-365E-48F8-ACE5-3013A770E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4000"/>
            <a:ext cx="9144000" cy="1778000"/>
          </a:xfrm>
        </p:spPr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7FDBFF"/>
                </a:solidFill>
                <a:latin typeface="Segoe UI"/>
              </a:rPr>
              <a:t>Automating Infrastructure Monitoring with DevOps</a:t>
            </a:r>
          </a:p>
          <a:p>
            <a:pPr algn="ctr">
              <a:buNone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 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DevOps Project — Semester 6</a:t>
            </a:r>
          </a:p>
        </p:txBody>
      </p:sp>
    </p:spTree>
    <p:extLst>
      <p:ext uri="{BB962C8B-B14F-4D97-AF65-F5344CB8AC3E}">
        <p14:creationId xmlns:p14="http://schemas.microsoft.com/office/powerpoint/2010/main" val="385232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809F-45FD-226C-A044-2D272793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65C05-3B93-B642-A8D3-555759664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53000"/>
          </a:xfrm>
        </p:spPr>
        <p:txBody>
          <a:bodyPr anchor="t" anchorCtr="0"/>
          <a:lstStyle/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Problem Statement</a:t>
            </a:r>
          </a:p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Solution Overview</a:t>
            </a:r>
          </a:p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Architecture &amp; Tech Stack</a:t>
            </a:r>
          </a:p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Core Features</a:t>
            </a:r>
          </a:p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Live Demo — CLI</a:t>
            </a:r>
          </a:p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Live Demo — Web UI</a:t>
            </a:r>
          </a:p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DevOps Pipeline &amp; Infrastructure</a:t>
            </a:r>
          </a:p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Testing Strategy</a:t>
            </a:r>
          </a:p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Key Results &amp; Metrics</a:t>
            </a:r>
          </a:p>
          <a:p>
            <a:pPr marL="342900" indent="-342900">
              <a:buFont typeface="Segoe UI"/>
              <a:buAutoNum type="arabicPeriod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Conclusion &amp; Q&amp;A</a:t>
            </a:r>
          </a:p>
        </p:txBody>
      </p:sp>
    </p:spTree>
    <p:extLst>
      <p:ext uri="{BB962C8B-B14F-4D97-AF65-F5344CB8AC3E}">
        <p14:creationId xmlns:p14="http://schemas.microsoft.com/office/powerpoint/2010/main" val="1414914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3F29-81F3-1D4D-2A48-179811EEA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The Problem</a:t>
            </a:r>
          </a:p>
          <a:p>
            <a:pPr>
              <a:buNone/>
            </a:pPr>
            <a:r>
              <a:rPr lang="en-US" sz="2000" dirty="0">
                <a:solidFill>
                  <a:srgbClr val="7FDBFF"/>
                </a:solidFill>
                <a:latin typeface="Segoe UI"/>
              </a:rPr>
              <a:t>Manual Nagios configuration doesn’t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66B97-B0ED-3187-02B8-C9AF5A0F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041900"/>
          </a:xfrm>
        </p:spPr>
        <p:txBody>
          <a:bodyPr anchor="t" anchorCtr="0"/>
          <a:lstStyle/>
          <a:p>
            <a:pPr marL="342900" indent="-342900">
              <a:buFont typeface="Arial"/>
              <a:buChar char="●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Nagios requires </a:t>
            </a:r>
            <a:r>
              <a:rPr lang="en-US" sz="1800" b="1" dirty="0">
                <a:solidFill>
                  <a:srgbClr val="00D4FF"/>
                </a:solidFill>
                <a:latin typeface="Segoe UI"/>
              </a:rPr>
              <a:t>repetitive .cfg files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for every host, service, and contact</a:t>
            </a:r>
          </a:p>
          <a:p>
            <a:pPr marL="342900" indent="-342900">
              <a:buFont typeface="Arial"/>
              <a:buChar char="●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Managing </a:t>
            </a:r>
            <a:r>
              <a:rPr lang="en-US" sz="1800" b="1" dirty="0">
                <a:solidFill>
                  <a:srgbClr val="00D4FF"/>
                </a:solidFill>
                <a:latin typeface="Segoe UI"/>
              </a:rPr>
              <a:t>50+ servers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means </a:t>
            </a:r>
            <a:r>
              <a:rPr lang="en-US" sz="1800" b="1" dirty="0">
                <a:solidFill>
                  <a:srgbClr val="00D4FF"/>
                </a:solidFill>
                <a:latin typeface="Segoe UI"/>
              </a:rPr>
              <a:t>hundreds of lines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of boilerplate</a:t>
            </a:r>
          </a:p>
          <a:p>
            <a:pPr marL="342900" indent="-342900">
              <a:buFont typeface="Arial"/>
              <a:buChar char="●"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Human errors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in syntax cause monitoring failures silently</a:t>
            </a:r>
          </a:p>
          <a:p>
            <a:pPr marL="342900" indent="-342900">
              <a:buFont typeface="Arial"/>
              <a:buChar char="●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No built-in validation</a:t>
            </a:r>
            <a:r>
              <a:rPr lang="en-US" sz="1800" b="1" dirty="0">
                <a:solidFill>
                  <a:srgbClr val="00D4FF"/>
                </a:solidFill>
                <a:latin typeface="Segoe UI"/>
              </a:rPr>
              <a:t> — mistakes caught only at Nagios reload time</a:t>
            </a:r>
          </a:p>
          <a:p>
            <a:pPr marL="342900" indent="-342900">
              <a:buFont typeface="Arial"/>
              <a:buChar char="●"/>
            </a:pPr>
            <a:r>
              <a:rPr lang="en-US" sz="1800" dirty="0">
                <a:solidFill>
                  <a:srgbClr val="EAEAEA"/>
                </a:solidFill>
                <a:latin typeface="Segoe UI"/>
              </a:rPr>
              <a:t>Configuration drift</a:t>
            </a:r>
            <a:r>
              <a:rPr lang="en-US" sz="1800" b="1" dirty="0">
                <a:solidFill>
                  <a:srgbClr val="00D4FF"/>
                </a:solidFill>
                <a:latin typeface="Segoe UI"/>
              </a:rPr>
              <a:t> across environments (dev/staging/prod)</a:t>
            </a:r>
          </a:p>
          <a:p>
            <a:pPr>
              <a:buNone/>
            </a:pPr>
            <a:r>
              <a:rPr lang="en-US" sz="1600" i="1" dirty="0">
                <a:solidFill>
                  <a:srgbClr val="7FDBFF"/>
                </a:solidFill>
                <a:latin typeface="Segoe UI"/>
              </a:rPr>
              <a:t>“One misplaced bracket can leave your entire infrastructure unmonitored.”</a:t>
            </a:r>
          </a:p>
        </p:txBody>
      </p:sp>
    </p:spTree>
    <p:extLst>
      <p:ext uri="{BB962C8B-B14F-4D97-AF65-F5344CB8AC3E}">
        <p14:creationId xmlns:p14="http://schemas.microsoft.com/office/powerpoint/2010/main" val="1837161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2F6CC-D553-773B-4031-D1F717C1C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524000"/>
            <a:ext cx="10515600" cy="4309641"/>
          </a:xfrm>
        </p:spPr>
        <p:txBody>
          <a:bodyPr anchor="t" anchorCtr="0"/>
          <a:lstStyle/>
          <a:p>
            <a:pPr>
              <a:buNone/>
            </a:pPr>
            <a:r>
              <a:rPr lang="en-US" sz="1800" b="1" dirty="0">
                <a:latin typeface="Segoe UI"/>
              </a:rPr>
              <a:t>A </a:t>
            </a:r>
            <a:r>
              <a:rPr lang="en-US" sz="1800" b="1" dirty="0">
                <a:solidFill>
                  <a:srgbClr val="00D4FF"/>
                </a:solidFill>
                <a:latin typeface="Segoe UI"/>
              </a:rPr>
              <a:t>Python-based automation tool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that generates production-ready Nagios .cfg files from structured YAML input or an interactive web form.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&gt; Input: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YAML definition or Web Form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&gt; Output: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Valid .cfg files (hosts, services, contacts, hostgroups, commands)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 marL="342900" indent="-342900">
              <a:buFont typeface="Arial"/>
              <a:buChar char="●"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Validate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before generating — catch errors instantly</a:t>
            </a:r>
          </a:p>
          <a:p>
            <a:pPr marL="342900" indent="-342900">
              <a:buFont typeface="Arial"/>
              <a:buChar char="●"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Template-driven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— consistent, production-ready output</a:t>
            </a:r>
          </a:p>
          <a:p>
            <a:pPr marL="342900" indent="-342900">
              <a:buFont typeface="Arial"/>
              <a:buChar char="●"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Dual interface</a:t>
            </a:r>
            <a:r>
              <a:rPr lang="en-US" sz="1800" dirty="0">
                <a:solidFill>
                  <a:srgbClr val="EAEAEA"/>
                </a:solidFill>
                <a:latin typeface="Segoe UI"/>
              </a:rPr>
              <a:t> — CLI for automation, Web UI for interactivity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A2060B-C2E6-25E5-5CF9-FB15981A5B88}"/>
              </a:ext>
            </a:extLst>
          </p:cNvPr>
          <p:cNvSpPr txBox="1">
            <a:spLocks/>
          </p:cNvSpPr>
          <p:nvPr/>
        </p:nvSpPr>
        <p:spPr>
          <a:xfrm>
            <a:off x="990600" y="381000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D4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Segoe UI"/>
              </a:rPr>
              <a:t>The Solution - </a:t>
            </a:r>
            <a:r>
              <a:rPr lang="en-US" sz="3200" dirty="0">
                <a:solidFill>
                  <a:srgbClr val="7FDBFF"/>
                </a:solidFill>
              </a:rPr>
              <a:t>Nagios Configuration Generator</a:t>
            </a:r>
            <a:endParaRPr lang="en-US" sz="3200" b="1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48927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CCDB7A-1DD2-EC44-81C1-8A6E2A996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829883"/>
              </p:ext>
            </p:extLst>
          </p:nvPr>
        </p:nvGraphicFramePr>
        <p:xfrm>
          <a:off x="838200" y="1371600"/>
          <a:ext cx="10515600" cy="4554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3288272068"/>
                    </a:ext>
                  </a:extLst>
                </a:gridCol>
                <a:gridCol w="2920999">
                  <a:extLst>
                    <a:ext uri="{9D8B030D-6E8A-4147-A177-3AD203B41FA5}">
                      <a16:colId xmlns:a16="http://schemas.microsoft.com/office/drawing/2014/main" val="1436748320"/>
                    </a:ext>
                  </a:extLst>
                </a:gridCol>
                <a:gridCol w="5257801">
                  <a:extLst>
                    <a:ext uri="{9D8B030D-6E8A-4147-A177-3AD203B41FA5}">
                      <a16:colId xmlns:a16="http://schemas.microsoft.com/office/drawing/2014/main" val="3498951297"/>
                    </a:ext>
                  </a:extLst>
                </a:gridCol>
              </a:tblGrid>
              <a:tr h="414057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D4FF"/>
                          </a:solidFill>
                        </a:rPr>
                        <a:t>Layer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D4FF"/>
                          </a:solidFill>
                        </a:rPr>
                        <a:t>Technology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D4FF"/>
                          </a:solidFill>
                        </a:rPr>
                        <a:t>Purpose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014808"/>
                  </a:ext>
                </a:extLst>
              </a:tr>
              <a:tr h="41405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Language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Python 3.11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Core application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538"/>
                  </a:ext>
                </a:extLst>
              </a:tr>
              <a:tr h="41405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Web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Flask 3.0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Interactive web interface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370670"/>
                  </a:ext>
                </a:extLst>
              </a:tr>
              <a:tr h="41405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CLI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Click 8.1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Command-line interface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176247"/>
                  </a:ext>
                </a:extLst>
              </a:tr>
              <a:tr h="41405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Validation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Pydantic 2.5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Data models &amp; validation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942161"/>
                  </a:ext>
                </a:extLst>
              </a:tr>
              <a:tr h="41405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Templating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Jinja2 3.1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Config file generation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806410"/>
                  </a:ext>
                </a:extLst>
              </a:tr>
              <a:tr h="41405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Containerization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Docker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Multi-stage builds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464825"/>
                  </a:ext>
                </a:extLst>
              </a:tr>
              <a:tr h="41405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Orchestration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Kubernetes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Production deployment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12248"/>
                  </a:ext>
                </a:extLst>
              </a:tr>
              <a:tr h="41405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CI/CD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Jenkins + GitHub Actions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Automated pipeline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426198"/>
                  </a:ext>
                </a:extLst>
              </a:tr>
              <a:tr h="41405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Testing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pytest 7.4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Unit &amp; integration tests</a:t>
                      </a:r>
                    </a:p>
                  </a:txBody>
                  <a:tcPr anchor="ctr">
                    <a:solidFill>
                      <a:srgbClr val="0F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554863"/>
                  </a:ext>
                </a:extLst>
              </a:tr>
              <a:tr h="414064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EAEAEA"/>
                          </a:solidFill>
                        </a:rPr>
                        <a:t>Security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7FDBFF"/>
                          </a:solidFill>
                        </a:rPr>
                        <a:t>Trivy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EAEAEA"/>
                          </a:solidFill>
                        </a:rPr>
                        <a:t>Container vulnerability scanning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26725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6B6503B-2AE0-860D-50D0-0A4492C8F3BA}"/>
              </a:ext>
            </a:extLst>
          </p:cNvPr>
          <p:cNvSpPr txBox="1">
            <a:spLocks/>
          </p:cNvSpPr>
          <p:nvPr/>
        </p:nvSpPr>
        <p:spPr>
          <a:xfrm>
            <a:off x="838200" y="228600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D4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Segoe UI"/>
              </a:rPr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186317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C07C-27DB-D608-76E3-F555C9176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11043-6DB8-B626-3248-60883F1AD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53000"/>
          </a:xfrm>
        </p:spPr>
        <p:txBody>
          <a:bodyPr anchor="t" anchorCtr="0"/>
          <a:lstStyle/>
          <a:p>
            <a:pPr marL="0" indent="0">
              <a:buNone/>
            </a:pPr>
            <a:r>
              <a:rPr lang="en-US" sz="1800" b="1" dirty="0">
                <a:solidFill>
                  <a:srgbClr val="7FDBFF"/>
                </a:solidFill>
                <a:latin typeface="Segoe UI"/>
              </a:rPr>
              <a:t>&gt; Input Layer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— YAML Input (CLI)  +  Web Form (Flask)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&gt; Validation Layer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— Pydantic Models + Standalone Validators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&gt; Generator Engine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— NagiosGenerator (Jinja2 Templates)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7FDBFF"/>
                </a:solidFill>
                <a:latin typeface="Segoe UI"/>
              </a:rPr>
              <a:t>&gt; Output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— .cfg Files  |  ZIP Archive  |  Web Preview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>
              <a:buNone/>
            </a:pPr>
            <a:r>
              <a:rPr lang="en-US" sz="1600" dirty="0">
                <a:solidFill>
                  <a:srgbClr val="7FDBFF"/>
                </a:solidFill>
                <a:latin typeface="Courier New"/>
              </a:rPr>
              <a:t>YAML / Web Form  →  Validation  →  Jinja2 Engine  →  .cfg Output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 marL="342900" indent="-342900">
              <a:buFont typeface="Arial"/>
              <a:buChar char="●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5 config file types generated: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hosts, services, contacts, hostgroups, commands</a:t>
            </a:r>
          </a:p>
        </p:txBody>
      </p:sp>
    </p:spTree>
    <p:extLst>
      <p:ext uri="{BB962C8B-B14F-4D97-AF65-F5344CB8AC3E}">
        <p14:creationId xmlns:p14="http://schemas.microsoft.com/office/powerpoint/2010/main" val="7351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C1A3-B073-FCB1-A446-4CD45126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000" b="1" dirty="0">
                <a:solidFill>
                  <a:srgbClr val="00D4FF"/>
                </a:solidFill>
                <a:latin typeface="Segoe UI"/>
              </a:rPr>
              <a:t>Core Feature: Input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421CD-10BC-78AB-4B4C-61CCCAAC3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53000"/>
          </a:xfrm>
        </p:spPr>
        <p:txBody>
          <a:bodyPr anchor="t" anchorCtr="0"/>
          <a:lstStyle/>
          <a:p>
            <a:pPr>
              <a:buNone/>
            </a:pPr>
            <a:r>
              <a:rPr lang="en-US" sz="1700" dirty="0">
                <a:solidFill>
                  <a:srgbClr val="7FDBFF"/>
                </a:solidFill>
                <a:latin typeface="Segoe UI"/>
              </a:rPr>
              <a:t>Validated fields:</a:t>
            </a:r>
          </a:p>
          <a:p>
            <a:pPr marL="342900" indent="-342900">
              <a:buFont typeface="Arial"/>
              <a:buChar char="✓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IP addresses — regex + format check</a:t>
            </a:r>
          </a:p>
          <a:p>
            <a:pPr marL="342900" indent="-342900">
              <a:buFont typeface="Arial"/>
              <a:buChar char="✓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Hostnames — RFC-compliant, max 63 chars</a:t>
            </a:r>
          </a:p>
          <a:p>
            <a:pPr marL="342900" indent="-342900">
              <a:buFont typeface="Arial"/>
              <a:buChar char="✓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Email addresses — proper format validation</a:t>
            </a:r>
          </a:p>
          <a:p>
            <a:pPr marL="342900" indent="-342900">
              <a:buFont typeface="Arial"/>
              <a:buChar char="✓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Thresholds — range validation (1–100)</a:t>
            </a:r>
          </a:p>
          <a:p>
            <a:pPr marL="342900" indent="-342900">
              <a:buFont typeface="Arial"/>
              <a:buChar char="✓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Required fields — structural completeness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>
              <a:buNone/>
            </a:pPr>
            <a:r>
              <a:rPr lang="en-US" sz="1600" dirty="0">
                <a:solidFill>
                  <a:srgbClr val="7FDBFF"/>
                </a:solidFill>
                <a:latin typeface="Segoe UI"/>
              </a:rPr>
              <a:t>Sample YAML field (host_name: webserver01  |  address: 192.168.1.10  |  max_check_attempts: 5)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  <a:latin typeface="Segoe UI"/>
              </a:rPr>
              <a:t>&gt; Catch errors before deployment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— validation runs before any file is generated</a:t>
            </a:r>
          </a:p>
        </p:txBody>
      </p:sp>
    </p:spTree>
    <p:extLst>
      <p:ext uri="{BB962C8B-B14F-4D97-AF65-F5344CB8AC3E}">
        <p14:creationId xmlns:p14="http://schemas.microsoft.com/office/powerpoint/2010/main" val="1713496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9CCF-FB99-9E1E-A1EE-C633C020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000" b="1" dirty="0">
                <a:solidFill>
                  <a:srgbClr val="00D4FF"/>
                </a:solidFill>
                <a:latin typeface="Segoe UI"/>
              </a:rPr>
              <a:t>Core Feature: Template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6B87B-988D-CBB5-3F38-25D700D58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53000"/>
          </a:xfrm>
        </p:spPr>
        <p:txBody>
          <a:bodyPr anchor="t" anchorCtr="0"/>
          <a:lstStyle/>
          <a:p>
            <a:pPr>
              <a:buNone/>
            </a:pPr>
            <a:r>
              <a:rPr lang="en-US" sz="1700" b="1" dirty="0">
                <a:solidFill>
                  <a:srgbClr val="7FDBFF"/>
                </a:solidFill>
                <a:latin typeface="Segoe UI"/>
              </a:rPr>
              <a:t>Jinja2 Templates → Nagios Config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>
              <a:buNone/>
            </a:pPr>
            <a:r>
              <a:rPr lang="en-US" sz="1600" b="1" dirty="0">
                <a:solidFill>
                  <a:srgbClr val="E94560"/>
                </a:solidFill>
                <a:latin typeface="Segoe UI"/>
              </a:rPr>
              <a:t>Template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(hosts.cfg.j2)</a:t>
            </a:r>
          </a:p>
          <a:p>
            <a:pPr marL="228600" indent="0">
              <a:buNone/>
            </a:pPr>
            <a:r>
              <a:rPr lang="en-US" sz="1500" dirty="0">
                <a:solidFill>
                  <a:srgbClr val="7FDBFF"/>
                </a:solidFill>
                <a:latin typeface="Courier New"/>
              </a:rPr>
              <a:t>{% for host in hosts %}  define host {  host_name {{ host.host_name }}  address {{ host.address }}  }  {% endfor %}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>
              <a:buNone/>
            </a:pPr>
            <a:r>
              <a:rPr lang="en-US" sz="1600" b="1" dirty="0">
                <a:solidFill>
                  <a:srgbClr val="00D4FF"/>
                </a:solidFill>
                <a:latin typeface="Segoe UI"/>
              </a:rPr>
              <a:t>Generated Output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(hosts.cfg)</a:t>
            </a:r>
          </a:p>
          <a:p>
            <a:pPr marL="228600" indent="0">
              <a:buNone/>
            </a:pPr>
            <a:r>
              <a:rPr lang="en-US" sz="1500" dirty="0">
                <a:solidFill>
                  <a:srgbClr val="EAEAEA"/>
                </a:solidFill>
                <a:latin typeface="Courier New"/>
              </a:rPr>
              <a:t>define host {  host_name webserver01  alias Production Web Server 01  address 192.168.1.10  }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 marL="342900" indent="-342900">
              <a:buFont typeface="Arial"/>
              <a:buChar char="●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5 template types: hosts, services, contacts, hostgroups, commands</a:t>
            </a:r>
          </a:p>
          <a:p>
            <a:pPr marL="342900" indent="-342900">
              <a:buFont typeface="Arial"/>
              <a:buChar char="●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Consistent, production-ready Nagios syntax every time</a:t>
            </a:r>
          </a:p>
        </p:txBody>
      </p:sp>
    </p:spTree>
    <p:extLst>
      <p:ext uri="{BB962C8B-B14F-4D97-AF65-F5344CB8AC3E}">
        <p14:creationId xmlns:p14="http://schemas.microsoft.com/office/powerpoint/2010/main" val="3719902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0D8B-8532-067A-DDF0-B38DF64C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000" b="1" dirty="0">
                <a:solidFill>
                  <a:srgbClr val="00D4FF"/>
                </a:solidFill>
                <a:latin typeface="Segoe UI"/>
              </a:rPr>
              <a:t>Core Feature: Dual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17DFE-A322-1581-F04C-C0B103BF7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53000"/>
          </a:xfrm>
        </p:spPr>
        <p:txBody>
          <a:bodyPr anchor="t" anchorCtr="0"/>
          <a:lstStyle/>
          <a:p>
            <a:pPr>
              <a:buNone/>
            </a:pPr>
            <a:r>
              <a:rPr lang="en-US" sz="1800" b="1" dirty="0">
                <a:solidFill>
                  <a:srgbClr val="E94560"/>
                </a:solidFill>
                <a:latin typeface="Segoe UI"/>
              </a:rPr>
              <a:t>CLI — For Scripting &amp; Automation</a:t>
            </a:r>
          </a:p>
          <a:p>
            <a:pPr marL="342900" indent="-342900">
              <a:buFont typeface="Arial"/>
              <a:buChar char="$"/>
            </a:pPr>
            <a:r>
              <a:rPr lang="en-US" sz="1500" dirty="0">
                <a:solidFill>
                  <a:srgbClr val="7FDBFF"/>
                </a:solidFill>
                <a:latin typeface="Courier New"/>
              </a:rPr>
              <a:t>python -m src.main.cli validate -i examples/sample_input.yaml</a:t>
            </a:r>
          </a:p>
          <a:p>
            <a:pPr marL="342900" indent="-342900">
              <a:buFont typeface="Arial"/>
              <a:buChar char="$"/>
            </a:pPr>
            <a:r>
              <a:rPr lang="en-US" sz="1500" dirty="0">
                <a:solidFill>
                  <a:srgbClr val="7FDBFF"/>
                </a:solidFill>
                <a:latin typeface="Courier New"/>
              </a:rPr>
              <a:t>python -m src.main.cli generate -i sample_input.yaml -o output/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>
              <a:buNone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Web UI — For Interactive Use</a:t>
            </a:r>
          </a:p>
          <a:p>
            <a:pPr marL="342900" indent="-342900">
              <a:buFont typeface="Arial"/>
              <a:buChar char="$"/>
            </a:pPr>
            <a:r>
              <a:rPr lang="en-US" sz="1500" dirty="0">
                <a:solidFill>
                  <a:srgbClr val="7FDBFF"/>
                </a:solidFill>
                <a:latin typeface="Courier New"/>
              </a:rPr>
              <a:t>python -m src.main.cli web --port 5000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 marL="342900" indent="-342900">
              <a:buFont typeface="Arial"/>
              <a:buChar char="●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Add hosts, services, contacts via dynamic forms</a:t>
            </a:r>
          </a:p>
          <a:p>
            <a:pPr marL="342900" indent="-342900">
              <a:buFont typeface="Arial"/>
              <a:buChar char="●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Preview generated configs in-browser</a:t>
            </a:r>
          </a:p>
          <a:p>
            <a:pPr marL="342900" indent="-342900">
              <a:buFont typeface="Arial"/>
              <a:buChar char="●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Download as ZIP archive</a:t>
            </a:r>
          </a:p>
        </p:txBody>
      </p:sp>
    </p:spTree>
    <p:extLst>
      <p:ext uri="{BB962C8B-B14F-4D97-AF65-F5344CB8AC3E}">
        <p14:creationId xmlns:p14="http://schemas.microsoft.com/office/powerpoint/2010/main" val="902577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6D0C-791D-DDC7-1D50-F54D0F9F3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000" b="1" dirty="0">
                <a:solidFill>
                  <a:srgbClr val="00D4FF"/>
                </a:solidFill>
                <a:latin typeface="Segoe UI"/>
              </a:rPr>
              <a:t>DevOps: Docker &amp; Containerization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4838B-1F29-F839-4E36-8602D8957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53000"/>
          </a:xfrm>
        </p:spPr>
        <p:txBody>
          <a:bodyPr anchor="t" anchorCtr="0"/>
          <a:lstStyle/>
          <a:p>
            <a:pPr>
              <a:buNone/>
            </a:pPr>
            <a:r>
              <a:rPr lang="en-US" sz="1700" b="1" dirty="0">
                <a:solidFill>
                  <a:srgbClr val="7FDBFF"/>
                </a:solidFill>
                <a:latin typeface="Segoe UI"/>
              </a:rPr>
              <a:t>Multi-Stage Build — Optimized Image</a:t>
            </a:r>
          </a:p>
          <a:p>
            <a:pPr marL="342900" indent="-342900">
              <a:buFont typeface="Arial"/>
              <a:buChar char="●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Stage 1 (Builder):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python:3.11-slim → install dependencies</a:t>
            </a:r>
          </a:p>
          <a:p>
            <a:pPr marL="342900" indent="-342900">
              <a:buFont typeface="Arial"/>
              <a:buChar char="●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Stage 2 (Runtime):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minimal image, copy only built artifacts</a:t>
            </a:r>
          </a:p>
          <a:p>
            <a:pPr marL="342900" indent="-342900">
              <a:buFont typeface="Arial"/>
              <a:buChar char="●"/>
            </a:pPr>
            <a:r>
              <a:rPr lang="en-US" sz="1700" b="1" dirty="0">
                <a:solidFill>
                  <a:srgbClr val="E94560"/>
                </a:solidFill>
                <a:latin typeface="Segoe UI"/>
              </a:rPr>
              <a:t>Final image size: ~150 MB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vs ~900 MB single-stage (83% reduction)</a:t>
            </a:r>
          </a:p>
          <a:p>
            <a:pPr marL="342900" indent="-342900">
              <a:buFont typeface="Arial"/>
              <a:buChar char="●"/>
            </a:pPr>
            <a:r>
              <a:rPr lang="en-US" sz="1700" dirty="0">
                <a:solidFill>
                  <a:srgbClr val="EAEAEA"/>
                </a:solidFill>
                <a:latin typeface="Segoe UI"/>
              </a:rPr>
              <a:t>Health check every 30s | Production server: Gunicorn (2 workers)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>
              <a:buNone/>
            </a:pPr>
            <a:r>
              <a:rPr lang="en-US" sz="1700" b="1" dirty="0">
                <a:solidFill>
                  <a:srgbClr val="7FDBFF"/>
                </a:solidFill>
                <a:latin typeface="Segoe UI"/>
              </a:rPr>
              <a:t>Docker Compose: Full stack with one command</a:t>
            </a:r>
          </a:p>
          <a:p>
            <a:pPr marL="342900" indent="-342900">
              <a:buFont typeface="Arial"/>
              <a:buChar char="●"/>
            </a:pPr>
            <a:r>
              <a:rPr lang="en-US" sz="1600" dirty="0">
                <a:solidFill>
                  <a:srgbClr val="7FDBFF"/>
                </a:solidFill>
                <a:latin typeface="Courier New"/>
              </a:rPr>
              <a:t>docker-compose up -d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 (Generator only)</a:t>
            </a:r>
          </a:p>
          <a:p>
            <a:pPr marL="342900" indent="-342900">
              <a:buFont typeface="Arial"/>
              <a:buChar char="●"/>
            </a:pPr>
            <a:r>
              <a:rPr lang="en-US" sz="1600" dirty="0">
                <a:solidFill>
                  <a:srgbClr val="7FDBFF"/>
                </a:solidFill>
                <a:latin typeface="Courier New"/>
              </a:rPr>
              <a:t>docker-compose --profile full up -d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 (Generator + Nagios)</a:t>
            </a:r>
          </a:p>
        </p:txBody>
      </p:sp>
    </p:spTree>
    <p:extLst>
      <p:ext uri="{BB962C8B-B14F-4D97-AF65-F5344CB8AC3E}">
        <p14:creationId xmlns:p14="http://schemas.microsoft.com/office/powerpoint/2010/main" val="907473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BF5D-4C08-8166-8480-003CF168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000" b="1" dirty="0">
                <a:solidFill>
                  <a:srgbClr val="00D4FF"/>
                </a:solidFill>
                <a:latin typeface="Segoe UI"/>
              </a:rPr>
              <a:t>DevOps: 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9E576-CAC2-68A2-9B5D-131736BC0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53000"/>
          </a:xfrm>
        </p:spPr>
        <p:txBody>
          <a:bodyPr anchor="t" anchorCtr="0"/>
          <a:lstStyle/>
          <a:p>
            <a:pPr>
              <a:buNone/>
            </a:pPr>
            <a:r>
              <a:rPr lang="en-US" sz="1600" dirty="0">
                <a:solidFill>
                  <a:srgbClr val="7FDBFF"/>
                </a:solidFill>
                <a:latin typeface="Segoe UI"/>
              </a:rPr>
              <a:t>Jenkins Pipeline Stages — Automated: Lint → Build → Test → Scan → Deploy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 </a:t>
            </a:r>
          </a:p>
          <a:p>
            <a:pPr marL="342900" indent="-342900">
              <a:buFont typeface="Arial"/>
              <a:buChar char="▶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Checkout: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Git clone, branch detection</a:t>
            </a:r>
          </a:p>
          <a:p>
            <a:pPr marL="342900" indent="-342900">
              <a:buFont typeface="Arial"/>
              <a:buChar char="▶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Code Quality: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flake8 linting, style checks</a:t>
            </a:r>
          </a:p>
          <a:p>
            <a:pPr marL="342900" indent="-342900">
              <a:buFont typeface="Arial"/>
              <a:buChar char="▶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Build: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Docker multi-stage image build</a:t>
            </a:r>
          </a:p>
          <a:p>
            <a:pPr marL="342900" indent="-342900">
              <a:buFont typeface="Arial"/>
              <a:buChar char="▶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Test: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pytest unit + integration tests</a:t>
            </a:r>
          </a:p>
          <a:p>
            <a:pPr marL="342900" indent="-342900">
              <a:buFont typeface="Arial"/>
              <a:buChar char="▶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Security Scan: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Trivy container vulnerability scan</a:t>
            </a:r>
          </a:p>
          <a:p>
            <a:pPr marL="342900" indent="-342900">
              <a:buFont typeface="Arial"/>
              <a:buChar char="▶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Deploy Staging: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Automated push to staging</a:t>
            </a:r>
          </a:p>
          <a:p>
            <a:pPr marL="342900" indent="-342900">
              <a:buFont typeface="Arial"/>
              <a:buChar char="▶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Deploy Production: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Manual gate — human approval required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 </a:t>
            </a:r>
          </a:p>
          <a:p>
            <a:pPr marL="342900" indent="-342900">
              <a:buFont typeface="Arial"/>
              <a:buChar char="[!]"/>
            </a:pPr>
            <a:r>
              <a:rPr lang="en-US" sz="1600" b="1" dirty="0">
                <a:solidFill>
                  <a:srgbClr val="E94560"/>
                </a:solidFill>
                <a:latin typeface="Segoe UI"/>
              </a:rPr>
              <a:t>Security scanning with Trivy on every build — zero high-severity vulnerabilities allowed</a:t>
            </a:r>
          </a:p>
        </p:txBody>
      </p:sp>
    </p:spTree>
    <p:extLst>
      <p:ext uri="{BB962C8B-B14F-4D97-AF65-F5344CB8AC3E}">
        <p14:creationId xmlns:p14="http://schemas.microsoft.com/office/powerpoint/2010/main" val="47179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8BF7-9B6D-C268-2A44-7DE43E3E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Testing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97783-D0E7-E092-8B1F-203DFD324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53000"/>
          </a:xfrm>
        </p:spPr>
        <p:txBody>
          <a:bodyPr anchor="t" anchorCtr="0"/>
          <a:lstStyle/>
          <a:p>
            <a:pPr>
              <a:buNone/>
            </a:pPr>
            <a:r>
              <a:rPr lang="en-US" sz="1700" b="1" dirty="0">
                <a:solidFill>
                  <a:srgbClr val="7FDBFF"/>
                </a:solidFill>
                <a:latin typeface="Segoe UI"/>
              </a:rPr>
              <a:t>Comprehensive Test Coverage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 marL="342900" indent="-342900">
              <a:buFont typeface="Arial"/>
              <a:buChar char="●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Unit Tests (12+):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Generator output, file creation, ZIP validity, Nagios syntax, edge cases</a:t>
            </a:r>
          </a:p>
          <a:p>
            <a:pPr marL="342900" indent="-342900">
              <a:buFont typeface="Arial"/>
              <a:buChar char="●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Integration Tests: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Full CLI pipeline: YAML → validate → generate → verify files</a:t>
            </a:r>
          </a:p>
          <a:p>
            <a:pPr marL="342900" indent="-342900">
              <a:buFont typeface="Arial"/>
              <a:buChar char="●"/>
            </a:pPr>
            <a:r>
              <a:rPr lang="en-US" sz="1700" b="1" dirty="0">
                <a:solidFill>
                  <a:srgbClr val="00D4FF"/>
                </a:solidFill>
                <a:latin typeface="Segoe UI"/>
              </a:rPr>
              <a:t>Smoke Tests: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CLI commands execute without errors in CI/CD pipeline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>
              <a:buNone/>
            </a:pPr>
            <a:r>
              <a:rPr lang="en-US" sz="1700" b="1" dirty="0">
                <a:solidFill>
                  <a:srgbClr val="7FDBFF"/>
                </a:solidFill>
                <a:latin typeface="Segoe UI"/>
              </a:rPr>
              <a:t>Key Test: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test_end_to_end_generation()</a:t>
            </a:r>
          </a:p>
          <a:p>
            <a:pPr marL="342900" indent="-342900">
              <a:buFont typeface="Arial"/>
              <a:buChar char="●"/>
            </a:pPr>
            <a:r>
              <a:rPr lang="en-US" sz="1600" dirty="0">
                <a:solidFill>
                  <a:srgbClr val="EAEAEA"/>
                </a:solidFill>
                <a:latin typeface="Segoe UI"/>
              </a:rPr>
              <a:t>Asserts exit_code == 0, "Generated 5 config file(s)" in output</a:t>
            </a:r>
          </a:p>
          <a:p>
            <a:pPr marL="342900" indent="-342900">
              <a:buFont typeface="Arial"/>
              <a:buChar char="●"/>
            </a:pPr>
            <a:r>
              <a:rPr lang="en-US" sz="1600" dirty="0">
                <a:solidFill>
                  <a:srgbClr val="EAEAEA"/>
                </a:solidFill>
                <a:latin typeface="Segoe UI"/>
              </a:rPr>
              <a:t>Verifies all 5 .cfg files exist and contain "define " syntax</a:t>
            </a:r>
          </a:p>
          <a:p>
            <a:pPr>
              <a:buNone/>
            </a:pPr>
            <a:r>
              <a:rPr lang="en-US" sz="1400" dirty="0">
                <a:solidFill>
                  <a:srgbClr val="EAEAEA"/>
                </a:solidFill>
              </a:rPr>
              <a:t> </a:t>
            </a:r>
          </a:p>
          <a:p>
            <a:pPr>
              <a:buNone/>
            </a:pPr>
            <a:r>
              <a:rPr lang="en-US" sz="1700" b="1" dirty="0">
                <a:solidFill>
                  <a:srgbClr val="E94560"/>
                </a:solidFill>
                <a:latin typeface="Segoe UI"/>
              </a:rPr>
              <a:t>Coverage: 85%+</a:t>
            </a:r>
            <a:r>
              <a:rPr lang="en-US" sz="1700" dirty="0">
                <a:solidFill>
                  <a:srgbClr val="EAEAEA"/>
                </a:solidFill>
                <a:latin typeface="Segoe UI"/>
              </a:rPr>
              <a:t>  (target: 80%)</a:t>
            </a:r>
          </a:p>
        </p:txBody>
      </p:sp>
    </p:spTree>
    <p:extLst>
      <p:ext uri="{BB962C8B-B14F-4D97-AF65-F5344CB8AC3E}">
        <p14:creationId xmlns:p14="http://schemas.microsoft.com/office/powerpoint/2010/main" val="307694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ECA9AB-6404-BF46-A1D2-A28F5FC85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572288"/>
              </p:ext>
            </p:extLst>
          </p:nvPr>
        </p:nvGraphicFramePr>
        <p:xfrm>
          <a:off x="838198" y="1284790"/>
          <a:ext cx="10515600" cy="2738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2560">
                  <a:extLst>
                    <a:ext uri="{9D8B030D-6E8A-4147-A177-3AD203B41FA5}">
                      <a16:colId xmlns:a16="http://schemas.microsoft.com/office/drawing/2014/main" val="20100029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16715212"/>
                    </a:ext>
                  </a:extLst>
                </a:gridCol>
                <a:gridCol w="4439920">
                  <a:extLst>
                    <a:ext uri="{9D8B030D-6E8A-4147-A177-3AD203B41FA5}">
                      <a16:colId xmlns:a16="http://schemas.microsoft.com/office/drawing/2014/main" val="3989910725"/>
                    </a:ext>
                  </a:extLst>
                </a:gridCol>
              </a:tblGrid>
              <a:tr h="431838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D4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D4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00D4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460029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Config generation time</a:t>
                      </a:r>
                    </a:p>
                  </a:txBody>
                  <a:tcPr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&lt; 1 second</a:t>
                      </a:r>
                    </a:p>
                  </a:txBody>
                  <a:tcPr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E94560"/>
                          </a:solidFill>
                        </a:rPr>
                        <a:t>~100 ms</a:t>
                      </a:r>
                    </a:p>
                  </a:txBody>
                  <a:tcPr>
                    <a:solidFill>
                      <a:srgbClr val="0F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711872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Docker build 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&lt; 2 minutes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E94560"/>
                          </a:solidFill>
                        </a:rPr>
                        <a:t>~45 seconds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79867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Docker image size</a:t>
                      </a:r>
                    </a:p>
                  </a:txBody>
                  <a:tcPr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&lt; 200 MB</a:t>
                      </a:r>
                    </a:p>
                  </a:txBody>
                  <a:tcPr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E94560"/>
                          </a:solidFill>
                        </a:rPr>
                        <a:t>~150 MB</a:t>
                      </a:r>
                    </a:p>
                  </a:txBody>
                  <a:tcPr>
                    <a:solidFill>
                      <a:srgbClr val="0F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8990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Test coverage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&gt; 80%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E94560"/>
                          </a:solidFill>
                        </a:rPr>
                        <a:t>85%+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38135"/>
                  </a:ext>
                </a:extLst>
              </a:tr>
              <a:tr h="537049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EAEAEA"/>
                          </a:solidFill>
                        </a:rPr>
                        <a:t>Config file types</a:t>
                      </a:r>
                    </a:p>
                  </a:txBody>
                  <a:tcPr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EAEAE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E94560"/>
                          </a:solidFill>
                        </a:rPr>
                        <a:t>5 (hosts, services, contacts, </a:t>
                      </a:r>
                      <a:r>
                        <a:rPr lang="en-US" sz="1600" b="1" dirty="0" err="1">
                          <a:solidFill>
                            <a:srgbClr val="E94560"/>
                          </a:solidFill>
                        </a:rPr>
                        <a:t>hostgroups</a:t>
                      </a:r>
                      <a:r>
                        <a:rPr lang="en-US" sz="1600" b="1" dirty="0">
                          <a:solidFill>
                            <a:srgbClr val="E94560"/>
                          </a:solidFill>
                        </a:rPr>
                        <a:t>, commands)</a:t>
                      </a:r>
                    </a:p>
                  </a:txBody>
                  <a:tcPr>
                    <a:solidFill>
                      <a:srgbClr val="0F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202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4984D9-15BC-254A-82DB-27924AFF2DA8}"/>
              </a:ext>
            </a:extLst>
          </p:cNvPr>
          <p:cNvSpPr txBox="1"/>
          <p:nvPr/>
        </p:nvSpPr>
        <p:spPr>
          <a:xfrm>
            <a:off x="762000" y="4279328"/>
            <a:ext cx="11430000" cy="3539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 dirty="0">
                <a:solidFill>
                  <a:srgbClr val="7FDBFF"/>
                </a:solidFill>
              </a:rPr>
              <a:t>What This Project Demonstrates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D0A4B-8A25-8049-BC6F-8DE68AEE4C8E}"/>
              </a:ext>
            </a:extLst>
          </p:cNvPr>
          <p:cNvSpPr txBox="1"/>
          <p:nvPr/>
        </p:nvSpPr>
        <p:spPr>
          <a:xfrm>
            <a:off x="762000" y="4889499"/>
            <a:ext cx="11430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EAEAEA"/>
                </a:solidFill>
              </a:rPr>
              <a:t>  ▶  Infrastructure as Code — Declarative YAML → executable configs
  ▶  CI/CD Best Practices — Automated pipeline with quality gates
  ▶  Containerization — Optimized multi-stage Docker builds
  ▶  Configuration Management — Template-driven, validated output
  ▶  DevOps Culture — Automation over manual processes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20692-4F6F-EA83-CB45-94BF13A12D23}"/>
              </a:ext>
            </a:extLst>
          </p:cNvPr>
          <p:cNvSpPr txBox="1">
            <a:spLocks/>
          </p:cNvSpPr>
          <p:nvPr/>
        </p:nvSpPr>
        <p:spPr>
          <a:xfrm>
            <a:off x="838200" y="228600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D4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Segoe UI"/>
              </a:rPr>
              <a:t>Results &amp; Metrics</a:t>
            </a:r>
          </a:p>
        </p:txBody>
      </p:sp>
    </p:spTree>
    <p:extLst>
      <p:ext uri="{BB962C8B-B14F-4D97-AF65-F5344CB8AC3E}">
        <p14:creationId xmlns:p14="http://schemas.microsoft.com/office/powerpoint/2010/main" val="1909991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78E8-D478-8CD9-0F89-F5DFB8DB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143000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31300-7568-BB80-CE02-F4E0793AC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953000"/>
          </a:xfrm>
        </p:spPr>
        <p:txBody>
          <a:bodyPr anchor="t" anchorCtr="0"/>
          <a:lstStyle/>
          <a:p>
            <a:pPr>
              <a:buNone/>
            </a:pPr>
            <a:r>
              <a:rPr lang="en-US" sz="1700" b="1" dirty="0">
                <a:solidFill>
                  <a:srgbClr val="7FDBFF"/>
                </a:solidFill>
                <a:latin typeface="Courier New"/>
              </a:rPr>
              <a:t>nagiosconfigurator/</a:t>
            </a:r>
          </a:p>
          <a:p>
            <a:pPr marL="342900" indent="-342900">
              <a:buFont typeface="Courier New"/>
              <a:buChar char="├"/>
            </a:pPr>
            <a:r>
              <a:rPr lang="en-US" sz="1600" b="1" dirty="0">
                <a:solidFill>
                  <a:srgbClr val="E94560"/>
                </a:solidFill>
                <a:latin typeface="Courier New"/>
              </a:rPr>
              <a:t>src/main/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 cli.py, generator.py, models.py, validators.py, web.py</a:t>
            </a:r>
          </a:p>
          <a:p>
            <a:pPr marL="342900" indent="-342900">
              <a:buFont typeface="Courier New"/>
              <a:buChar char="├"/>
            </a:pPr>
            <a:r>
              <a:rPr lang="en-US" sz="1600" b="1" dirty="0">
                <a:solidFill>
                  <a:srgbClr val="E94560"/>
                </a:solidFill>
                <a:latin typeface="Courier New"/>
              </a:rPr>
              <a:t>templates/nagios/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 Jinja2 .cfg.j2 template files</a:t>
            </a:r>
          </a:p>
          <a:p>
            <a:pPr marL="342900" indent="-342900">
              <a:buFont typeface="Courier New"/>
              <a:buChar char="├"/>
            </a:pPr>
            <a:r>
              <a:rPr lang="en-US" sz="1600" b="1" dirty="0">
                <a:solidFill>
                  <a:srgbClr val="E94560"/>
                </a:solidFill>
                <a:latin typeface="Courier New"/>
              </a:rPr>
              <a:t>infrastructure/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 Docker, Kubernetes, Terraform configs</a:t>
            </a:r>
          </a:p>
          <a:p>
            <a:pPr marL="342900" indent="-342900">
              <a:buFont typeface="Courier New"/>
              <a:buChar char="├"/>
            </a:pPr>
            <a:r>
              <a:rPr lang="en-US" sz="1600" b="1" dirty="0">
                <a:solidFill>
                  <a:srgbClr val="E94560"/>
                </a:solidFill>
                <a:latin typeface="Courier New"/>
              </a:rPr>
              <a:t>pipelines/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 Jenkinsfile CI/CD pipeline definition</a:t>
            </a:r>
          </a:p>
          <a:p>
            <a:pPr marL="342900" indent="-342900">
              <a:buFont typeface="Courier New"/>
              <a:buChar char="├"/>
            </a:pPr>
            <a:r>
              <a:rPr lang="en-US" sz="1600" b="1" dirty="0">
                <a:solidFill>
                  <a:srgbClr val="E94560"/>
                </a:solidFill>
                <a:latin typeface="Courier New"/>
              </a:rPr>
              <a:t>tests/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 Unit + integration test suites</a:t>
            </a:r>
          </a:p>
          <a:p>
            <a:pPr marL="342900" indent="-342900">
              <a:buFont typeface="Courier New"/>
              <a:buChar char="├"/>
            </a:pPr>
            <a:r>
              <a:rPr lang="en-US" sz="1600" b="1" dirty="0">
                <a:solidFill>
                  <a:srgbClr val="E94560"/>
                </a:solidFill>
                <a:latin typeface="Courier New"/>
              </a:rPr>
              <a:t>examples/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 Sample YAML input files</a:t>
            </a:r>
          </a:p>
          <a:p>
            <a:pPr marL="342900" indent="-342900">
              <a:buFont typeface="Courier New"/>
              <a:buChar char="├"/>
            </a:pPr>
            <a:r>
              <a:rPr lang="en-US" sz="1600" b="1" dirty="0">
                <a:solidFill>
                  <a:srgbClr val="E94560"/>
                </a:solidFill>
                <a:latin typeface="Courier New"/>
              </a:rPr>
              <a:t>output/</a:t>
            </a:r>
            <a:r>
              <a:rPr lang="en-US" sz="1600" dirty="0">
                <a:solidFill>
                  <a:srgbClr val="EAEAEA"/>
                </a:solidFill>
                <a:latin typeface="Segoe UI"/>
              </a:rPr>
              <a:t>   Generated .cfg files (runtime)</a:t>
            </a:r>
          </a:p>
        </p:txBody>
      </p:sp>
    </p:spTree>
    <p:extLst>
      <p:ext uri="{BB962C8B-B14F-4D97-AF65-F5344CB8AC3E}">
        <p14:creationId xmlns:p14="http://schemas.microsoft.com/office/powerpoint/2010/main" val="863978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07AE-4A90-398B-ABC4-AABD996B6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79400"/>
            <a:ext cx="10515600" cy="8636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0D4FF"/>
                </a:solidFill>
                <a:latin typeface="Segoe UI"/>
              </a:rPr>
              <a:t>Key Takeaways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A52A2-4165-223F-CE96-A833DD43E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219200"/>
            <a:ext cx="10515600" cy="5080000"/>
          </a:xfrm>
        </p:spPr>
        <p:txBody>
          <a:bodyPr anchor="t" anchorCtr="0">
            <a:normAutofit/>
          </a:bodyPr>
          <a:lstStyle/>
          <a:p>
            <a:pPr marL="457200" indent="-457200" algn="l">
              <a:lnSpc>
                <a:spcPts val="2000"/>
              </a:lnSpc>
              <a:spcBef>
                <a:spcPts val="800"/>
              </a:spcBef>
              <a:buFont typeface="Segoe UI Symbol"/>
              <a:buChar char="◆"/>
            </a:pPr>
            <a:r>
              <a:rPr lang="en-US" sz="2000" b="1" dirty="0">
                <a:solidFill>
                  <a:srgbClr val="00D4FF"/>
                </a:solidFill>
                <a:latin typeface="Segoe UI"/>
              </a:rPr>
              <a:t>Automation</a:t>
            </a:r>
            <a:r>
              <a:rPr lang="en-US" sz="2000" dirty="0">
                <a:solidFill>
                  <a:srgbClr val="EAEAEA"/>
                </a:solidFill>
                <a:latin typeface="Segoe UI"/>
              </a:rPr>
              <a:t> eliminates manual errors in monitoring config</a:t>
            </a:r>
          </a:p>
          <a:p>
            <a:pPr marL="457200" indent="-457200" algn="l">
              <a:lnSpc>
                <a:spcPts val="2000"/>
              </a:lnSpc>
              <a:spcBef>
                <a:spcPts val="800"/>
              </a:spcBef>
              <a:buFont typeface="Segoe UI Symbol"/>
              <a:buChar char="◆"/>
            </a:pPr>
            <a:r>
              <a:rPr lang="en-US" sz="2000" b="1" dirty="0">
                <a:solidFill>
                  <a:srgbClr val="00D4FF"/>
                </a:solidFill>
                <a:latin typeface="Segoe UI"/>
              </a:rPr>
              <a:t>Validation-first</a:t>
            </a:r>
            <a:r>
              <a:rPr lang="en-US" sz="2000" dirty="0">
                <a:solidFill>
                  <a:srgbClr val="EAEAEA"/>
                </a:solidFill>
                <a:latin typeface="Segoe UI"/>
              </a:rPr>
              <a:t> design catches mistakes before deployment</a:t>
            </a:r>
          </a:p>
          <a:p>
            <a:pPr marL="457200" indent="-457200" algn="l">
              <a:lnSpc>
                <a:spcPts val="2000"/>
              </a:lnSpc>
              <a:spcBef>
                <a:spcPts val="800"/>
              </a:spcBef>
              <a:buFont typeface="Segoe UI Symbol"/>
              <a:buChar char="◆"/>
            </a:pPr>
            <a:r>
              <a:rPr lang="en-US" sz="2000" b="1" dirty="0">
                <a:solidFill>
                  <a:srgbClr val="00D4FF"/>
                </a:solidFill>
                <a:latin typeface="Segoe UI"/>
              </a:rPr>
              <a:t>Dual interfaces</a:t>
            </a:r>
            <a:r>
              <a:rPr lang="en-US" sz="2000" dirty="0">
                <a:solidFill>
                  <a:srgbClr val="EAEAEA"/>
                </a:solidFill>
                <a:latin typeface="Segoe UI"/>
              </a:rPr>
              <a:t> serve both automation and interactive needs</a:t>
            </a:r>
          </a:p>
          <a:p>
            <a:pPr marL="457200" indent="-457200" algn="l">
              <a:lnSpc>
                <a:spcPts val="2000"/>
              </a:lnSpc>
              <a:spcBef>
                <a:spcPts val="800"/>
              </a:spcBef>
              <a:buFont typeface="Segoe UI Symbol"/>
              <a:buChar char="◆"/>
            </a:pPr>
            <a:r>
              <a:rPr lang="en-US" sz="2000" b="1" dirty="0">
                <a:solidFill>
                  <a:srgbClr val="00D4FF"/>
                </a:solidFill>
                <a:latin typeface="Segoe UI"/>
              </a:rPr>
              <a:t>DevOps pipeline</a:t>
            </a:r>
            <a:r>
              <a:rPr lang="en-US" sz="2000" dirty="0">
                <a:solidFill>
                  <a:srgbClr val="EAEAEA"/>
                </a:solidFill>
                <a:latin typeface="Segoe UI"/>
              </a:rPr>
              <a:t> ensures quality at every stage</a:t>
            </a:r>
          </a:p>
          <a:p>
            <a:pPr marL="457200" indent="-457200" algn="l">
              <a:lnSpc>
                <a:spcPts val="2000"/>
              </a:lnSpc>
              <a:spcBef>
                <a:spcPts val="800"/>
              </a:spcBef>
              <a:buFont typeface="Segoe UI Symbol"/>
              <a:buChar char="◆"/>
            </a:pPr>
            <a:r>
              <a:rPr lang="en-US" sz="2000" b="1" dirty="0">
                <a:solidFill>
                  <a:srgbClr val="00D4FF"/>
                </a:solidFill>
                <a:latin typeface="Segoe UI"/>
              </a:rPr>
              <a:t>Containerization</a:t>
            </a:r>
            <a:r>
              <a:rPr lang="en-US" sz="2000" dirty="0">
                <a:solidFill>
                  <a:srgbClr val="EAEAEA"/>
                </a:solidFill>
                <a:latin typeface="Segoe UI"/>
              </a:rPr>
              <a:t> makes deployment consistent and portable</a:t>
            </a:r>
          </a:p>
        </p:txBody>
      </p:sp>
    </p:spTree>
    <p:extLst>
      <p:ext uri="{BB962C8B-B14F-4D97-AF65-F5344CB8AC3E}">
        <p14:creationId xmlns:p14="http://schemas.microsoft.com/office/powerpoint/2010/main" val="52455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B40E-4A27-653A-DC5F-974908E4E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4000"/>
            <a:ext cx="9144000" cy="2286000"/>
          </a:xfrm>
        </p:spPr>
        <p:txBody>
          <a:bodyPr/>
          <a:lstStyle/>
          <a:p>
            <a:pPr algn="ctr">
              <a:buNone/>
            </a:pPr>
            <a:r>
              <a:rPr lang="en-US" sz="5400" b="1" dirty="0">
                <a:solidFill>
                  <a:srgbClr val="00D4FF"/>
                </a:solidFill>
                <a:latin typeface="Segoe UI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345BC-6FD0-F353-1CA9-53E9B87D5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1600"/>
            <a:ext cx="9144000" cy="1968500"/>
          </a:xfrm>
        </p:spPr>
        <p:txBody>
          <a:bodyPr/>
          <a:lstStyle/>
          <a:p>
            <a:pPr algn="ctr">
              <a:buNone/>
            </a:pPr>
            <a:r>
              <a:rPr lang="en-US" sz="1600" dirty="0">
                <a:solidFill>
                  <a:srgbClr val="EAEAEA"/>
                </a:solidFill>
                <a:latin typeface="Segoe UI"/>
              </a:rPr>
              <a:t> 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00D4FF"/>
                </a:solidFill>
                <a:latin typeface="Segoe UI"/>
              </a:rPr>
              <a:t>Nagios Configuration Generator</a:t>
            </a:r>
          </a:p>
          <a:p>
            <a:pPr algn="ctr">
              <a:buNone/>
            </a:pPr>
            <a:r>
              <a:rPr lang="en-US" sz="1600" dirty="0">
                <a:solidFill>
                  <a:srgbClr val="7FDBFF"/>
                </a:solidFill>
                <a:latin typeface="Segoe UI"/>
              </a:rPr>
              <a:t>Automating Infrastructure Monitoring with DevOps</a:t>
            </a:r>
          </a:p>
        </p:txBody>
      </p:sp>
    </p:spTree>
    <p:extLst>
      <p:ext uri="{BB962C8B-B14F-4D97-AF65-F5344CB8AC3E}">
        <p14:creationId xmlns:p14="http://schemas.microsoft.com/office/powerpoint/2010/main" val="821143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EAEAEA"/>
      </a:dk1>
      <a:lt1>
        <a:srgbClr val="1A1A2E"/>
      </a:lt1>
      <a:dk2>
        <a:srgbClr val="16213E"/>
      </a:dk2>
      <a:lt2>
        <a:srgbClr val="0F3460"/>
      </a:lt2>
      <a:accent1>
        <a:srgbClr val="00D4FF"/>
      </a:accent1>
      <a:accent2>
        <a:srgbClr val="E94560"/>
      </a:accent2>
      <a:accent3>
        <a:srgbClr val="7FDBFF"/>
      </a:accent3>
      <a:accent4>
        <a:srgbClr val="00B4D8"/>
      </a:accent4>
      <a:accent5>
        <a:srgbClr val="48CAE4"/>
      </a:accent5>
      <a:accent6>
        <a:srgbClr val="0077B6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6DA61B-B536-814B-8F4D-644EE1D734A0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2442</Words>
  <Application>Microsoft Macintosh PowerPoint</Application>
  <PresentationFormat>Widescreen</PresentationFormat>
  <Paragraphs>284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Courier New</vt:lpstr>
      <vt:lpstr>Segoe UI</vt:lpstr>
      <vt:lpstr>Segoe UI Symbol</vt:lpstr>
      <vt:lpstr>Office Theme</vt:lpstr>
      <vt:lpstr>Nagios Configuration Generator</vt:lpstr>
      <vt:lpstr>Agenda</vt:lpstr>
      <vt:lpstr>The Problem Manual Nagios configuration doesn’t scale</vt:lpstr>
      <vt:lpstr>PowerPoint Presentation</vt:lpstr>
      <vt:lpstr>PowerPoint Presentation</vt:lpstr>
      <vt:lpstr>Architecture</vt:lpstr>
      <vt:lpstr>Core Feature: Input Validation</vt:lpstr>
      <vt:lpstr>Core Feature: Template Engine</vt:lpstr>
      <vt:lpstr>Core Feature: Dual Interface</vt:lpstr>
      <vt:lpstr>DevOps: Docker &amp; Containerization</vt:lpstr>
      <vt:lpstr>DevOps: CI/CD Pipeline</vt:lpstr>
      <vt:lpstr>Testing Strategy</vt:lpstr>
      <vt:lpstr>PowerPoint Presentation</vt:lpstr>
      <vt:lpstr>Project Structure</vt:lpstr>
      <vt:lpstr>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[BTECH-005-2023-24] AYUSH ANAND</dc:creator>
  <cp:lastModifiedBy>[BTECH-005-2023-24] AYUSH ANAND</cp:lastModifiedBy>
  <cp:revision>5</cp:revision>
  <dcterms:created xsi:type="dcterms:W3CDTF">2026-03-07T18:17:35Z</dcterms:created>
  <dcterms:modified xsi:type="dcterms:W3CDTF">2026-03-07T19:15:06Z</dcterms:modified>
</cp:coreProperties>
</file>